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 snapToObjects="1">
      <p:cViewPr varScale="1">
        <p:scale>
          <a:sx n="88" d="100"/>
          <a:sy n="88" d="100"/>
        </p:scale>
        <p:origin x="176" y="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38FE0-80F1-EA45-8234-1F0880206E43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AD4EE-611E-9647-8BCC-34A72D805F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8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DAD4EE-611E-9647-8BCC-34A72D805FB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74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2926080" cy="6638544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26080" y="109728"/>
            <a:ext cx="45720" cy="6638544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457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A032"/>
                </a:solidFill>
                <a:latin typeface="Calibri Light"/>
              </a:rPr>
              <a:t>MASTER 1
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463040"/>
            <a:ext cx="2560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AABBCC"/>
                </a:solidFill>
                <a:latin typeface="Calibri Light"/>
              </a:rPr>
              <a:t>IAE METZ
202</a:t>
            </a:r>
            <a:r>
              <a:rPr lang="fr-FR" sz="1100" b="0" i="0" dirty="0">
                <a:solidFill>
                  <a:srgbClr val="AABBCC"/>
                </a:solidFill>
                <a:latin typeface="Calibri Light"/>
              </a:rPr>
              <a:t>5</a:t>
            </a:r>
            <a:r>
              <a:rPr sz="1100" b="0" i="0" dirty="0">
                <a:solidFill>
                  <a:srgbClr val="AABBCC"/>
                </a:solidFill>
                <a:latin typeface="Calibri Light"/>
              </a:rPr>
              <a:t>–202</a:t>
            </a:r>
            <a:r>
              <a:rPr lang="fr-FR" sz="1100" b="0" i="0" dirty="0">
                <a:solidFill>
                  <a:srgbClr val="AABBCC"/>
                </a:solidFill>
                <a:latin typeface="Calibri Light"/>
              </a:rPr>
              <a:t>6</a:t>
            </a:r>
            <a:endParaRPr sz="1100" b="0" i="0" dirty="0">
              <a:solidFill>
                <a:srgbClr val="AABBCC"/>
              </a:solidFill>
              <a:latin typeface="Calibri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2194560" cy="2743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" y="2377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196F3"/>
                </a:solidFill>
                <a:latin typeface="Calibri"/>
              </a:rPr>
              <a:t>VaR Results (95%, 1-day)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788920"/>
            <a:ext cx="2468880" cy="475488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8072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Historical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900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1.7456%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355848"/>
            <a:ext cx="2468880" cy="475488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3741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Parametric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570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2.0295%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922776"/>
            <a:ext cx="2468880" cy="475488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94106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Monte Carlo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123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2.0422%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A3C"/>
                </a:solidFill>
                <a:latin typeface="Calibri"/>
              </a:rPr>
              <a:t>Portfolio: $18,000 (+80%)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2020–2024 | 1256 trading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10972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 Light"/>
              </a:rPr>
              <a:t>Value at Risk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0574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196F3"/>
                </a:solidFill>
                <a:latin typeface="Calibri Light"/>
              </a:rPr>
              <a:t>of a US Equity Portfolio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834640"/>
            <a:ext cx="7772400" cy="36576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2971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A032"/>
                </a:solidFill>
                <a:latin typeface="Calibri Light"/>
              </a:rPr>
              <a:t>Three-Method Approach  ·  Historical  ·  Parametric  ·  Monte Carlo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5204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 Light"/>
              </a:rPr>
              <a:t>LVMH (Luxury)  ·  Johnson &amp; Johnson (Healthcare)  ·  Lockheed Martin (Defense)
NextEra Energy (Renewables)  ·  Apple (Technology)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January 2020 – December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709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8C8D"/>
                </a:solidFill>
                <a:latin typeface="Calibri"/>
              </a:rPr>
              <a:t>Equal-Weighted Portfolio  ·  Initial Capital: $10,000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Presented by: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Master 1 Finance — IAE Metz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Context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Why measure risk?  What does this project answer?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516636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88A"/>
                </a:solidFill>
                <a:latin typeface="Calibri"/>
              </a:rPr>
              <a:t>Financial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88A"/>
                </a:solidFill>
                <a:latin typeface="Calibri"/>
              </a:rPr>
              <a:t>CONTEXT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A0A0A"/>
                </a:solidFill>
                <a:latin typeface="Calibri"/>
              </a:rPr>
              <a:t>Since the 2008 financial crisis, VaR has become the standard regulatory risk metric under Basel III/IV. Every major bank and asset manager is required to report daily VaR figures.</a:t>
            </a:r>
          </a:p>
          <a:p>
            <a:pPr algn="l">
              <a:spcBef>
                <a:spcPts val="300"/>
              </a:spcBef>
            </a:pPr>
            <a:endParaRPr sz="12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A488A"/>
                </a:solidFill>
                <a:latin typeface="Calibri"/>
              </a:rPr>
              <a:t>PORTFOLIO RATIONALE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A0A0A"/>
                </a:solidFill>
                <a:latin typeface="Calibri"/>
              </a:rPr>
              <a:t>We build a 5-stock US equity portfolio across uncorrelated sectors: luxury goods, healthcare, defense, renewable energy, and technology. The goal is to observe how sectoral diversification affects risk.</a:t>
            </a:r>
          </a:p>
          <a:p>
            <a:pPr algn="l">
              <a:spcBef>
                <a:spcPts val="300"/>
              </a:spcBef>
            </a:pPr>
            <a:endParaRPr sz="12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A488A"/>
                </a:solidFill>
                <a:latin typeface="Calibri"/>
              </a:rPr>
              <a:t>PERIOD CHOICE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A0A0A"/>
                </a:solidFill>
                <a:latin typeface="Calibri"/>
              </a:rPr>
              <a:t>January 2020 – December 2024 deliberately covers extreme market events: the COVID crash (March 2020), the post-COVID rally, and the 2022 rate-hike bear market. This stress-tests our VaR models against real shocks.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73152" cy="516636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488A"/>
                </a:solidFill>
                <a:latin typeface="Calibri"/>
              </a:rPr>
              <a:t>Research 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502920" cy="50292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032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Construct a diversified US equity portfolio across 5 distinct sectors using 5 years of daily market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880360"/>
            <a:ext cx="502920" cy="50292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29260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032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880360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Compute 1-day VaR at the 95% confidence level using three independent methods.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977639"/>
            <a:ext cx="502920" cy="50292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40233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032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77639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Compare and critically interpret the three VaR estimates — do they converge or diverge, and why?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5074920"/>
            <a:ext cx="502920" cy="50292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5120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032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074920"/>
            <a:ext cx="4709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Assess what the VaR figures mean in dollar terms for a $10,000 invested portfolio.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Portfolio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5 stocks · 5 sectors · Equal weights · $10,000 initial capital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85039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7043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7043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1704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170432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17043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27048"/>
            <a:ext cx="8503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60020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488A"/>
                </a:solidFill>
                <a:latin typeface="Calibri"/>
              </a:rPr>
              <a:t>LVMUY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60020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LVMH Moët Hennessy Louis Vuitton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6002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Luxury Goods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Europe /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60020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002536"/>
            <a:ext cx="850392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07568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488A"/>
                </a:solidFill>
                <a:latin typeface="Calibri"/>
              </a:rPr>
              <a:t>JNJ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07568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Johnson &amp; Johnson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0756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USA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07568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78024"/>
            <a:ext cx="8503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55117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488A"/>
                </a:solidFill>
                <a:latin typeface="Calibri"/>
              </a:rPr>
              <a:t>LMT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55117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Lockheed Martin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5511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551176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USA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55117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20%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953512"/>
            <a:ext cx="8503920" cy="47548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02666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488A"/>
                </a:solidFill>
                <a:latin typeface="Calibri"/>
              </a:rPr>
              <a:t>NEE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02666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NextEra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0266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Renewable Energy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026664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USA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0266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20%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29000"/>
            <a:ext cx="8503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35021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488A"/>
                </a:solidFill>
                <a:latin typeface="Calibri"/>
              </a:rPr>
              <a:t>AAPL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350215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Calibri"/>
              </a:rPr>
              <a:t>Apple Inc.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35021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Technology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502152"/>
            <a:ext cx="1463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USA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350215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0A0A"/>
                </a:solidFill>
                <a:latin typeface="Calibri"/>
              </a:rPr>
              <a:t>20%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931920"/>
            <a:ext cx="116128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74320" y="3931920"/>
            <a:ext cx="73152" cy="2423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4005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88A"/>
                </a:solidFill>
                <a:latin typeface="Calibri"/>
              </a:rPr>
              <a:t>Construction Rationale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370832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0A0A0A"/>
                </a:solidFill>
                <a:latin typeface="Calibri"/>
              </a:rPr>
              <a:t>DIVERSIFICATION LOGIC  — The five sectors have low return correlations. Defence (LMT) and healthcare (JNJ) tend to hold value during equity sell-offs, while technology (AAPL) and luxury (LVMUY) drive growth in risk-on environments. Renewables (NEE) provide exposure to long-term structural growth with low sensitivity to business cycles.</a:t>
            </a:r>
          </a:p>
          <a:p>
            <a:pPr algn="l">
              <a:spcBef>
                <a:spcPts val="600"/>
              </a:spcBef>
            </a:pPr>
            <a:r>
              <a:rPr sz="1150">
                <a:solidFill>
                  <a:srgbClr val="0A0A0A"/>
                </a:solidFill>
                <a:latin typeface="Calibri"/>
              </a:rPr>
              <a:t>EQUAL WEIGHTING  — Each stock receives exactly 20% of capital. This avoids concentration bias and makes the portfolio transparent and reproducible. In academic finance, equal weighting is a well-established benchmark that often outperforms optimised portfolios out-of-sample.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Individual Stock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Normalized to base 100 — January 2020 to December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pic>
        <p:nvPicPr>
          <p:cNvPr id="7" name="Picture 6" descr="chart1_stock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046720" cy="4663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1051560"/>
            <a:ext cx="359359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051560"/>
            <a:ext cx="64008" cy="466344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1430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00200"/>
            <a:ext cx="3337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488A"/>
                </a:solidFill>
                <a:latin typeface="Calibri"/>
              </a:rPr>
              <a:t>AAPL — Dominant performer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Apple delivered the strongest cumulative gain, driven by product cycle expansion and multiple re-rating.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LMT — Defensive outperformer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Lockheed Martin proved resilient through the 2022 bear market as defence budgets surged post-Ukraine.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NEE — High beta to rates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NextEra lost ground significantly in 2022–23 as rising rates increased its cost of capital (utility sector sensitivity).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LVMUY — Volatile recovery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LVMH recovered from COVID at pace but then corrected in 2024 as China consumption disappointed.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JNJ — Stable anchor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Johnson &amp; Johnson showed the lowest volatility, consistent with its defensive healthcare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Portfolio Value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$10,000 invested equally across 5 stocks · Final value: $18,000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pic>
        <p:nvPicPr>
          <p:cNvPr id="7" name="Picture 6" descr="chart2_portfolio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04672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2880" y="5093208"/>
            <a:ext cx="1298448" cy="1078992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516636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  <a:latin typeface="Calibri"/>
              </a:rPr>
              <a:t>Initial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504688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 Light"/>
              </a:rPr>
              <a:t>$10,000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5093208"/>
            <a:ext cx="1298448" cy="107899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36776" y="516636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  <a:latin typeface="Calibri"/>
              </a:rPr>
              <a:t>Final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6776" y="5504688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 Light"/>
              </a:rPr>
              <a:t>$18,000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7792" y="5093208"/>
            <a:ext cx="1298448" cy="107899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516636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  <a:latin typeface="Calibri"/>
              </a:rPr>
              <a:t>Total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5504688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 Light"/>
              </a:rPr>
              <a:t>+80.0%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5093208"/>
            <a:ext cx="1298448" cy="107899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516636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  <a:latin typeface="Calibri"/>
              </a:rPr>
              <a:t>Ann.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504688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 Light"/>
              </a:rPr>
              <a:t>+14.8%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2704" y="5093208"/>
            <a:ext cx="1298448" cy="10789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24144" y="516636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  <a:latin typeface="Calibri"/>
              </a:rPr>
              <a:t>Worst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4144" y="5504688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 Light"/>
              </a:rPr>
              <a:t>-10.47%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5093208"/>
            <a:ext cx="1298448" cy="1078992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516636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96F3"/>
                </a:solidFill>
                <a:latin typeface="Calibri"/>
              </a:rPr>
              <a:t>Ann. Volatility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504688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 Light"/>
              </a:rPr>
              <a:t>20.1%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051560"/>
            <a:ext cx="3593592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12480" y="1051560"/>
            <a:ext cx="64008" cy="39319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11430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Portfolio Narrative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572768"/>
            <a:ext cx="33375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88A"/>
                </a:solidFill>
                <a:latin typeface="Calibri"/>
              </a:rPr>
              <a:t>PHASE 1 — COVID Crash (Feb–Mar 2020)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Portfolio dropped sharply to $7,421 (on 2020-03-23). The equal-weight structure meant all sectors were hit, but JNJ and LMT cushioned the fall.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488A"/>
                </a:solidFill>
                <a:latin typeface="Calibri"/>
              </a:rPr>
              <a:t>PHASE 2 — Bull Market (2020–2021)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Strong recovery driven by AAPL and LVMUY. The portfolio exceeded the initial $10,000 by mid-2020 and continued to grow through 2021.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488A"/>
                </a:solidFill>
                <a:latin typeface="Calibri"/>
              </a:rPr>
              <a:t>PHASE 3 — Rate Hike Bear (2022)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The Fed's aggressive tightening compressed growth valuations. AAPL and NEE dragged the portfolio down. LMT bucked the trend.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488A"/>
                </a:solidFill>
                <a:latin typeface="Calibri"/>
              </a:rPr>
              <a:t>PHASE 4 — Recovery (2023–2024)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AI-driven rally in tech and stabilising inflation pushed the portfolio to its final value of $18,000, a gain of 80.0% over the full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Value at Risk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Three independent estimation methods · 95% confidence · 1-day horizon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105156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 Light"/>
              </a:rPr>
              <a:t>Definition — VaR (95%, 1-day) answers: "What is the maximum loss this portfolio will suffer on a typical bad day, 19 times out of 20?"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3749039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3749039" cy="73152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423160"/>
            <a:ext cx="4572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2432304"/>
            <a:ext cx="429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A032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41448"/>
            <a:ext cx="2971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Historical VaR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529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F8C8D"/>
                </a:solidFill>
                <a:latin typeface="Calibri"/>
              </a:rPr>
              <a:t>Uses the actual distribution of past returns.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218688"/>
            <a:ext cx="35204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Calibri"/>
              </a:rPr>
              <a:t>· Take all 1256 daily returns (Jan 2020 – Dec 2024)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· Sort returns from worst to best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· Read off the 5th percentile directly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No distributional assumption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Captures real market events (COVID, 2022 crash)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Limitation: future may differ from past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806440"/>
            <a:ext cx="3566159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581558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A032"/>
                </a:solidFill>
                <a:latin typeface="Calibri"/>
              </a:rPr>
              <a:t>Result: 1.7456%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331720"/>
            <a:ext cx="3749039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2331720"/>
            <a:ext cx="3749039" cy="7315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70248" y="2423160"/>
            <a:ext cx="4572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79392" y="2432304"/>
            <a:ext cx="429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A032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441448"/>
            <a:ext cx="2971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Parametric VaR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8529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F8C8D"/>
                </a:solidFill>
                <a:latin typeface="Calibri"/>
              </a:rPr>
              <a:t>Assumes portfolio returns follow a Normal distribution.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218688"/>
            <a:ext cx="35204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Calibri"/>
              </a:rPr>
              <a:t>· Mean daily return: 0.0548%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· Daily std deviation: 1.2672%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· Z-score at 5% tail: −1.645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Formula: VaR = −(μ + z·σ)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Fast and analytically tractable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Risk: underestimates fat tails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5806440"/>
            <a:ext cx="3566159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59" y="581558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A032"/>
                </a:solidFill>
                <a:latin typeface="Calibri"/>
              </a:rPr>
              <a:t>Result: 2.0295%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331720"/>
            <a:ext cx="3749039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2331720"/>
            <a:ext cx="3749039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56448" y="2423160"/>
            <a:ext cx="4572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5592" y="2432304"/>
            <a:ext cx="429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A032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2441448"/>
            <a:ext cx="2971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Monte Carlo VaR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8529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F8C8D"/>
                </a:solidFill>
                <a:latin typeface="Calibri"/>
              </a:rPr>
              <a:t>Simulates 10,000 possible future return scenarios.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218688"/>
            <a:ext cx="35204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Calibri"/>
              </a:rPr>
              <a:t>· Draw 10,000 random returns from N(μ, σ²)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· Same parameters as parametric method</a:t>
            </a:r>
          </a:p>
          <a:p>
            <a:pPr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· Take the 5th percentile of simulated outcomes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Probabilistic view of the loss distribution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Very close to parametric (same inputs)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→ More flexible for complex portfolios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5806440"/>
            <a:ext cx="3566159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581558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A032"/>
                </a:solidFill>
                <a:latin typeface="Calibri"/>
              </a:rPr>
              <a:t>Result: 2.0422%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Daily Return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Histogram of actual returns vs. theoretical normal curve · Historical VaR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pic>
        <p:nvPicPr>
          <p:cNvPr id="7" name="Picture 6" descr="chart3_ret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046720" cy="4663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1051560"/>
            <a:ext cx="359359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051560"/>
            <a:ext cx="64008" cy="4663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1430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Reading the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72768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488A"/>
                </a:solidFill>
                <a:latin typeface="Calibri"/>
              </a:rPr>
              <a:t>Central mass — low risk days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The bulk of daily returns cluster tightly around 0%, confirming that most trading days are unremarkable for a diversified portfolio.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C0392B"/>
                </a:solidFill>
                <a:latin typeface="Calibri"/>
              </a:rPr>
              <a:t>Left tail — the loss zone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The red vertical line marks the Historical VaR threshold at −1.75%. On 5% of trading days (≈ 63 days over 5 years), losses exceeded this level.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Normal curve overlay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0A0A0A"/>
                </a:solidFill>
                <a:latin typeface="Calibri"/>
              </a:rPr>
              <a:t>The orange curve is the theoretical normal distribution fitted to μ = 0.055% and σ = 1.267%. The actual histogram is slightly leptokurtic (more peaked, fatter tails) — typical of equity returns.</a:t>
            </a:r>
          </a:p>
          <a:p>
            <a:pPr algn="l">
              <a:spcBef>
                <a:spcPts val="200"/>
              </a:spcBef>
            </a:pPr>
            <a:endParaRPr sz="105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1A488A"/>
                </a:solidFill>
                <a:latin typeface="Calibri"/>
              </a:rPr>
              <a:t>Key statistic</a:t>
            </a:r>
          </a:p>
          <a:p>
            <a:pPr algn="l">
              <a:spcBef>
                <a:spcPts val="200"/>
              </a:spcBef>
            </a:pPr>
            <a:r>
              <a:rPr sz="1050" b="1">
                <a:solidFill>
                  <a:srgbClr val="C0392B"/>
                </a:solidFill>
                <a:latin typeface="Calibri"/>
              </a:rPr>
              <a:t>Worst single day: -10.47%  |  Best: +8.97%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VaR Results — 95% Confidence, 1-Day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Comparing three methods on the same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1097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3520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88A"/>
                </a:solidFill>
                <a:latin typeface="Calibri"/>
              </a:rPr>
              <a:t>Historical 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0992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Most conservative estimate.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048256"/>
            <a:ext cx="3474720" cy="8046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2066543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Calibri Light"/>
              </a:rPr>
              <a:t>1.7456%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42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−$314 on current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926080"/>
            <a:ext cx="35204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Calibri"/>
              </a:rPr>
              <a:t>Reads directly from the actual distribution of past returns. On the 5th worst percentile of the 1256 observed trading days, the portfolio lost at least 1.75% — or about $314 on the current portfolio value of $18,000.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3566159" cy="1828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54864" cy="1828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33832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1A488A"/>
                </a:solidFill>
                <a:latin typeface="Calibri"/>
              </a:rPr>
              <a:t>Lower than parametric → the actual return distribution has a less extreme left tail than a normal curve predicts. Diversification worked.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143000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1143000"/>
            <a:ext cx="3749039" cy="109728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1298448"/>
            <a:ext cx="3520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88A"/>
                </a:solidFill>
                <a:latin typeface="Calibri"/>
              </a:rPr>
              <a:t>Parametric 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70992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Assumes Gaussian returns.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048256"/>
            <a:ext cx="3474720" cy="8046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2066543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8C00"/>
                </a:solidFill>
                <a:latin typeface="Calibri Light"/>
              </a:rPr>
              <a:t>2.0295%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542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−$365 on current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926080"/>
            <a:ext cx="35204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Calibri"/>
              </a:rPr>
              <a:t>Derived analytically: VaR = −(μ + z·σ) with μ=0.0548%, σ=1.2672%, z=−1.645. Gives 2.03%, or about $365 in dollar terms.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4389120"/>
            <a:ext cx="3566159" cy="1828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59" y="4389120"/>
            <a:ext cx="54864" cy="18288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0" y="4434840"/>
            <a:ext cx="33832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1A488A"/>
                </a:solidFill>
                <a:latin typeface="Calibri"/>
              </a:rPr>
              <a:t>Higher than Historical → the normal distribution overestimates tail risk here. Parametric VaR is the more conservative parametric estimate.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1143000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1143000"/>
            <a:ext cx="3749039" cy="109728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298448"/>
            <a:ext cx="3520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88A"/>
                </a:solidFill>
                <a:latin typeface="Calibri"/>
              </a:rPr>
              <a:t>Monte Carlo VaR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170992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10,000 simulated scenarios.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2048256"/>
            <a:ext cx="3474720" cy="8046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80" y="2066543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E24AA"/>
                </a:solidFill>
                <a:latin typeface="Calibri Light"/>
              </a:rPr>
              <a:t>2.0422%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25420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−$368 on current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2926080"/>
            <a:ext cx="35204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A0A0A"/>
                </a:solidFill>
                <a:latin typeface="Calibri"/>
              </a:rPr>
              <a:t>Simulates 10,000 random draws from N(0.0548%, 1.2672%²). The 5th percentile of simulated outcomes gives 2.04%, or $368.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389120"/>
            <a:ext cx="3566159" cy="1828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4389120"/>
            <a:ext cx="54864" cy="18288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5320" y="4434840"/>
            <a:ext cx="33832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1A488A"/>
                </a:solidFill>
                <a:latin typeface="Calibri"/>
              </a:rPr>
              <a:t>Near-identical to Parametric (2.0422% vs 2.0295%). Expected: both use the same μ and σ. The 0.01% difference is pure sampling noise from 10,000 draws.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VaR Methods — Side-by-Side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All three thresholds on the actual return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pic>
        <p:nvPicPr>
          <p:cNvPr id="7" name="Picture 6" descr="chart4_v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7772400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38160" y="1051560"/>
            <a:ext cx="3867912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38160" y="1051560"/>
            <a:ext cx="64008" cy="475488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88A"/>
                </a:solidFill>
                <a:latin typeface="Calibri"/>
              </a:rPr>
              <a:t>Comparison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554480"/>
            <a:ext cx="386791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57276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1572768"/>
            <a:ext cx="107899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1572768"/>
            <a:ext cx="8869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$ Loss (on $18K)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8832" y="1572768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01952"/>
            <a:ext cx="386791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901952"/>
            <a:ext cx="64008" cy="40233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9568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  <a:latin typeface="Calibri"/>
              </a:rPr>
              <a:t>Historical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956816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53935"/>
                </a:solidFill>
                <a:latin typeface="Calibri"/>
              </a:rPr>
              <a:t>1.7456%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956816"/>
            <a:ext cx="886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0A0A"/>
                </a:solidFill>
                <a:latin typeface="Calibri"/>
              </a:rPr>
              <a:t>−$314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8832" y="1956816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0A0A"/>
                </a:solidFill>
                <a:latin typeface="Calibri"/>
              </a:rPr>
              <a:t>None (empirical)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304288"/>
            <a:ext cx="3867912" cy="40233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2304288"/>
            <a:ext cx="64008" cy="402336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56448" y="235915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  <a:latin typeface="Calibri"/>
              </a:rPr>
              <a:t>Parametric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359152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8C00"/>
                </a:solidFill>
                <a:latin typeface="Calibri"/>
              </a:rPr>
              <a:t>2.0295%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2359152"/>
            <a:ext cx="886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0A0A"/>
                </a:solidFill>
                <a:latin typeface="Calibri"/>
              </a:rPr>
              <a:t>−$365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28832" y="2359152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0A0A"/>
                </a:solidFill>
                <a:latin typeface="Calibri"/>
              </a:rPr>
              <a:t>Normal dist.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706624"/>
            <a:ext cx="386791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2706624"/>
            <a:ext cx="64008" cy="402336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56448" y="27614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  <a:latin typeface="Calibri"/>
              </a:rPr>
              <a:t>Monte Carlo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761488"/>
            <a:ext cx="1078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E24AA"/>
                </a:solidFill>
                <a:latin typeface="Calibri"/>
              </a:rPr>
              <a:t>2.0422%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761488"/>
            <a:ext cx="886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0A0A"/>
                </a:solidFill>
                <a:latin typeface="Calibri"/>
              </a:rPr>
              <a:t>−$368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8832" y="2761488"/>
            <a:ext cx="749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A0A0A"/>
                </a:solidFill>
                <a:latin typeface="Calibri"/>
              </a:rPr>
              <a:t>Normal dist.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108960"/>
            <a:ext cx="3867912" cy="5486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3218688"/>
            <a:ext cx="3703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488A"/>
                </a:solidFill>
                <a:latin typeface="Calibri"/>
              </a:rPr>
              <a:t>KEY FINDING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Historical VaR (1.75%) is 0.28 percentage points lower than the Parametric estimate (2.03%). This gap reveals that the portfolio's actual return distribution is less extreme in its left tail than a pure normal distribution predicts.</a:t>
            </a:r>
          </a:p>
          <a:p>
            <a:pPr algn="l">
              <a:spcBef>
                <a:spcPts val="300"/>
              </a:spcBef>
            </a:pPr>
            <a:endParaRPr sz="10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000" b="1">
                <a:solidFill>
                  <a:srgbClr val="1A488A"/>
                </a:solidFill>
                <a:latin typeface="Calibri"/>
              </a:rPr>
              <a:t>WHY DOES THIS MATTER?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A risk manager using only the parametric model would systematically over-provision capital against daily losses. The historical method, anchored to real data, provides a more accurate picture of this specific portfolio's behaviour.</a:t>
            </a:r>
          </a:p>
          <a:p>
            <a:pPr algn="l">
              <a:spcBef>
                <a:spcPts val="300"/>
              </a:spcBef>
            </a:pPr>
            <a:endParaRPr sz="1000" b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000" b="1">
                <a:solidFill>
                  <a:srgbClr val="1A488A"/>
                </a:solidFill>
                <a:latin typeface="Calibri"/>
              </a:rPr>
              <a:t>MONTE CARLO ≈ PARAMETRIC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A0A0A"/>
                </a:solidFill>
                <a:latin typeface="Calibri"/>
              </a:rPr>
              <a:t>The difference of 0.0127% between MC and Parametric is negligible — a direct consequence of identical input parameters. Monte Carlo's value lies in more complex, multi-asset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 Light"/>
              </a:rPr>
              <a:t>Key Findings &amp; Financial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96F3"/>
                </a:solidFill>
                <a:latin typeface="Calibri"/>
              </a:rPr>
              <a:t>What do the VaR numbers mean in practice?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AABBCC"/>
                </a:solidFill>
                <a:latin typeface="Calibri"/>
              </a:rPr>
              <a:t>Value at Risk Analysis — Master 1 Finance | IAE Metz — 202</a:t>
            </a:r>
            <a:r>
              <a:rPr lang="fr-FR" sz="900" b="0" i="0" dirty="0">
                <a:solidFill>
                  <a:srgbClr val="AABBCC"/>
                </a:solidFill>
                <a:latin typeface="Calibri"/>
              </a:rPr>
              <a:t>6</a:t>
            </a:r>
            <a:endParaRPr sz="900" b="0" i="0" dirty="0">
              <a:solidFill>
                <a:srgbClr val="AABBC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61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88A"/>
                </a:solidFill>
                <a:latin typeface="Calibri"/>
              </a:rPr>
              <a:t>Diversification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A0A0A"/>
                </a:solidFill>
                <a:latin typeface="Calibri"/>
              </a:rPr>
              <a:t>The portfolio's Historical VaR of 1.75% is below the Parametric estimate, confirming that cross-sector diversification reduces extreme tail losses beyond what a single-distribution model captures. Sectors moved counter-cyclically during 2020 and 2022.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143000"/>
            <a:ext cx="374903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143000"/>
            <a:ext cx="3749039" cy="7315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1261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  <a:latin typeface="Calibri"/>
              </a:rPr>
              <a:t>Dollar 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719072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A0A0A"/>
                </a:solidFill>
                <a:latin typeface="Calibri"/>
              </a:rPr>
              <a:t>On the worst 5% of trading days, the portfolio (valued at $18,000) is expected to lose at least $314 (Historical) to $365 (Parametric). This translates the abstract percentage into a concrete risk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143000"/>
            <a:ext cx="374903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66176" y="1143000"/>
            <a:ext cx="3749039" cy="73152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1261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32"/>
                </a:solidFill>
                <a:latin typeface="Calibri"/>
              </a:rPr>
              <a:t>Method 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1719072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A0A0A"/>
                </a:solidFill>
                <a:latin typeface="Calibri"/>
              </a:rPr>
              <a:t>All three methods agree within a 0.30% band. This convergence strengthens confidence in the risk estimate — no single method is an outlier. The Parametric and Monte Carlo methods converge because they share the same mean and volatility inputs.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11612880" cy="2423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116128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Critical Limitations — What VaR Does NOT Tell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07408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DDEEFF"/>
                </a:solidFill>
                <a:latin typeface="Calibri"/>
              </a:rPr>
              <a:t>▸  VaR is NOT a worst-case loss. It is a threshold exceeded 5% of the time. On those 5% of days, losses can be far larger (this is measured by Expected Shortfall / CVaR).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DDEEFF"/>
                </a:solidFill>
                <a:latin typeface="Calibri"/>
              </a:rPr>
              <a:t>▸  VaR assumes the past is representative of the future. A structural break (new pandemic, sovereign crisis) can invalidate historical distributions entirely.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DDEEFF"/>
                </a:solidFill>
                <a:latin typeface="Calibri"/>
              </a:rPr>
              <a:t>▸  The 1-day horizon ignores liquidity risk. Unwinding a $18K portfolio in a crisis may take days, during which losses can compound.</a:t>
            </a:r>
          </a:p>
          <a:p>
            <a:pPr algn="l">
              <a:spcBef>
                <a:spcPts val="400"/>
              </a:spcBef>
            </a:pPr>
            <a:r>
              <a:rPr sz="1050">
                <a:solidFill>
                  <a:srgbClr val="DDEEFF"/>
                </a:solidFill>
                <a:latin typeface="Calibri"/>
              </a:rPr>
              <a:t>▸  Equal weighting is a simplification. Optimal portfolio construction (mean-variance, risk parity) could reduce VaR further.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91440"/>
            <a:ext cx="3227832" cy="6675120"/>
          </a:xfrm>
          <a:prstGeom prst="rect">
            <a:avLst/>
          </a:prstGeom>
          <a:solidFill>
            <a:srgbClr val="1A4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486400" cy="4572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32"/>
                </a:solidFill>
                <a:latin typeface="Calibri"/>
              </a:rPr>
              <a:t>A well-diversified portfolio reduces 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CCDDEE"/>
                </a:solidFill>
                <a:latin typeface="Calibri"/>
              </a:rPr>
              <a:t>By combining 5 low-correlated sectors, the portfolio's actual 1-day 95% VaR (1.75%) came in below what a normal-distribution model would predict (2.03%). This is a direct quantification of the diversification benefit.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" cy="105156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32"/>
                </a:solidFill>
                <a:latin typeface="Calibri"/>
              </a:rPr>
              <a:t>All three methods converge — increasing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8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CCDDEE"/>
                </a:solidFill>
                <a:latin typeface="Calibri"/>
              </a:rPr>
              <a:t>Historical (1.75%), Parametric (2.03%), and Monte Carlo (2.04%) align within a 0.30% range. This convergence validates the robustness of the estimate and reduces model risk.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54864" cy="105156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32"/>
                </a:solidFill>
                <a:latin typeface="Calibri"/>
              </a:rPr>
              <a:t>Strong risk-adjusted performance over 5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33087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CCDDEE"/>
                </a:solidFill>
                <a:latin typeface="Calibri"/>
              </a:rPr>
              <a:t>The portfolio grew from $10,000 to $18,000 (+80.0%) with an annualised return of 14.8% and annualised volatility of 20.1%. VaR remained manageable throughout, including during the COVID shock.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199"/>
            <a:ext cx="54864" cy="1051560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029199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A032"/>
                </a:solidFill>
                <a:latin typeface="Calibri"/>
              </a:rPr>
              <a:t>VaR is a starting point, not the full risk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13247"/>
            <a:ext cx="8138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CCDDEE"/>
                </a:solidFill>
                <a:latin typeface="Calibri"/>
              </a:rPr>
              <a:t>Expected Shortfall (CVaR) should complement VaR to capture losses beyond the threshold. Dynamic rebalancing and correlation monitoring over time are essential for a live portfolio.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57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032"/>
                </a:solidFill>
                <a:latin typeface="Calibri"/>
              </a:rPr>
              <a:t>Final VaR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841248"/>
            <a:ext cx="2926080" cy="36576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960120"/>
            <a:ext cx="2926080" cy="1097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960120"/>
            <a:ext cx="2926080" cy="640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10698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"/>
              </a:rPr>
              <a:t>Historical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53935"/>
                </a:solidFill>
                <a:latin typeface="Calibri Light"/>
              </a:rPr>
              <a:t>1.7456%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240280"/>
            <a:ext cx="2926080" cy="1097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2240280"/>
            <a:ext cx="2926080" cy="64008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23500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"/>
              </a:rPr>
              <a:t>Parametric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B8C00"/>
                </a:solidFill>
                <a:latin typeface="Calibri Light"/>
              </a:rPr>
              <a:t>2.0295%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520439"/>
            <a:ext cx="2926080" cy="109728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8280" y="3520439"/>
            <a:ext cx="2926080" cy="64008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20" y="3630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Calibri"/>
              </a:rPr>
              <a:t>Monte Carlo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9776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E24AA"/>
                </a:solidFill>
                <a:latin typeface="Calibri Light"/>
              </a:rPr>
              <a:t>2.0422%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4800600"/>
            <a:ext cx="2926080" cy="36576"/>
          </a:xfrm>
          <a:prstGeom prst="rect">
            <a:avLst/>
          </a:prstGeom>
          <a:solidFill>
            <a:srgbClr val="C8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48920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Portfolio: $18,000
+80.0% over 5 years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577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A032"/>
                </a:solidFill>
                <a:latin typeface="Calibri"/>
              </a:rPr>
              <a:t>95% confidence · 1-day horizon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2158</Words>
  <Application>Microsoft Macintosh PowerPoint</Application>
  <PresentationFormat>Personnalisé</PresentationFormat>
  <Paragraphs>252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Bochra Jabr</cp:lastModifiedBy>
  <cp:revision>2</cp:revision>
  <dcterms:created xsi:type="dcterms:W3CDTF">2013-01-27T09:14:16Z</dcterms:created>
  <dcterms:modified xsi:type="dcterms:W3CDTF">2026-04-09T20:49:25Z</dcterms:modified>
  <cp:category/>
</cp:coreProperties>
</file>