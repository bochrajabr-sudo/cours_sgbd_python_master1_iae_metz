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4676"/>
  </p:normalViewPr>
  <p:slideViewPr>
    <p:cSldViewPr snapToGrid="0" snapToObjects="1">
      <p:cViewPr varScale="1">
        <p:scale>
          <a:sx n="88" d="100"/>
          <a:sy n="88" d="100"/>
        </p:scale>
        <p:origin x="176" y="5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C38FE0-80F1-EA45-8234-1F0880206E43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DAD4EE-611E-9647-8BCC-34A72D805F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780885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DAD4EE-611E-9647-8BCC-34A72D805FBD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07453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2926080" cy="6638544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926080" y="109728"/>
            <a:ext cx="45720" cy="6638544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3232404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C8A032"/>
                </a:solidFill>
                <a:latin typeface="Calibri Light"/>
              </a:rPr>
              <a:t>MASTER 1
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3912513"/>
            <a:ext cx="25603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AABBCC"/>
                </a:solidFill>
                <a:latin typeface="Calibri Light"/>
              </a:rPr>
              <a:t>IAE METZ
202</a:t>
            </a:r>
            <a:r>
              <a:rPr lang="fr-FR" sz="1100" b="0" i="0" dirty="0">
                <a:solidFill>
                  <a:srgbClr val="AABBCC"/>
                </a:solidFill>
                <a:latin typeface="Calibri Light"/>
              </a:rPr>
              <a:t>5</a:t>
            </a:r>
            <a:r>
              <a:rPr sz="1100" b="0" i="0" dirty="0">
                <a:solidFill>
                  <a:srgbClr val="AABBCC"/>
                </a:solidFill>
                <a:latin typeface="Calibri Light"/>
              </a:rPr>
              <a:t>–202</a:t>
            </a:r>
            <a:r>
              <a:rPr lang="fr-FR" sz="1100" b="0" i="0" dirty="0">
                <a:solidFill>
                  <a:srgbClr val="AABBCC"/>
                </a:solidFill>
                <a:latin typeface="Calibri Light"/>
              </a:rPr>
              <a:t>6</a:t>
            </a:r>
            <a:endParaRPr sz="1100" b="0" i="0" dirty="0">
              <a:solidFill>
                <a:srgbClr val="AABBCC"/>
              </a:solidFill>
              <a:latin typeface="Calibri Ligh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65760" y="4535424"/>
            <a:ext cx="2194560" cy="27432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82880" y="49194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F8C8D"/>
                </a:solidFill>
                <a:latin typeface="Calibri"/>
              </a:rPr>
              <a:t>2020–2024 | 1256 trading days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1097280"/>
            <a:ext cx="86868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4200" b="1" i="0" dirty="0">
                <a:solidFill>
                  <a:srgbClr val="FFFFFF"/>
                </a:solidFill>
                <a:latin typeface="Calibri Light"/>
              </a:rPr>
              <a:t>Portfolio </a:t>
            </a:r>
            <a:r>
              <a:rPr lang="fr-FR" sz="4200" b="1" dirty="0">
                <a:solidFill>
                  <a:srgbClr val="FFFFFF"/>
                </a:solidFill>
                <a:latin typeface="Calibri Light"/>
              </a:rPr>
              <a:t>R</a:t>
            </a:r>
            <a:r>
              <a:rPr lang="fr-FR" sz="4200" b="1" i="0" dirty="0">
                <a:solidFill>
                  <a:srgbClr val="FFFFFF"/>
                </a:solidFill>
                <a:latin typeface="Calibri Light"/>
              </a:rPr>
              <a:t>isk </a:t>
            </a:r>
            <a:r>
              <a:rPr lang="fr-FR" sz="4200" b="1" dirty="0" err="1">
                <a:solidFill>
                  <a:srgbClr val="FFFFFF"/>
                </a:solidFill>
                <a:latin typeface="Calibri Light"/>
              </a:rPr>
              <a:t>A</a:t>
            </a:r>
            <a:r>
              <a:rPr lang="fr-FR" sz="4200" b="1" i="0" dirty="0" err="1">
                <a:solidFill>
                  <a:srgbClr val="FFFFFF"/>
                </a:solidFill>
                <a:latin typeface="Calibri Light"/>
              </a:rPr>
              <a:t>nalysis</a:t>
            </a:r>
            <a:endParaRPr sz="4200" b="1" i="0" dirty="0">
              <a:solidFill>
                <a:srgbClr val="FFFFFF"/>
              </a:solidFill>
              <a:latin typeface="Calibri Ligh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200400" y="2057400"/>
            <a:ext cx="868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3600" dirty="0" err="1">
                <a:solidFill>
                  <a:srgbClr val="2196F3"/>
                </a:solidFill>
                <a:latin typeface="Calibri Light"/>
              </a:rPr>
              <a:t>using</a:t>
            </a:r>
            <a:r>
              <a:rPr lang="fr-FR" sz="3600" dirty="0">
                <a:solidFill>
                  <a:srgbClr val="2196F3"/>
                </a:solidFill>
                <a:latin typeface="Calibri Light"/>
              </a:rPr>
              <a:t> Value at Risk</a:t>
            </a:r>
            <a:endParaRPr sz="3600" b="0" i="0" dirty="0">
              <a:solidFill>
                <a:srgbClr val="2196F3"/>
              </a:solidFill>
              <a:latin typeface="Calibri Light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200400" y="2834640"/>
            <a:ext cx="7772400" cy="36576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0" y="29718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C8A032"/>
                </a:solidFill>
                <a:latin typeface="Calibri Light"/>
              </a:rPr>
              <a:t>Three-Method Approach  ·  Historical  ·  Parametric  ·  Monte Carlo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352044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  <a:latin typeface="Calibri Light"/>
              </a:rPr>
              <a:t>LVMH (Luxury)  ·  Johnson &amp; Johnson (Healthcare)  ·  Lockheed Martin (Defense)
NextEra Energy (Renewables)  ·  Apple (Technology)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3434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January 2020 – December 2024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7091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F8C8D"/>
                </a:solidFill>
                <a:latin typeface="Calibri"/>
              </a:rPr>
              <a:t>Equal-Weighted Portfolio  ·  Initial Capital: $10,000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577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  <a:latin typeface="Calibri"/>
              </a:rPr>
              <a:t>Presented by: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8521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Master 1 Finance — IAE Metz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Context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Why measure risk?  What does this project answer?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AABBCC"/>
                </a:solidFill>
                <a:latin typeface="Calibri"/>
              </a:rPr>
              <a:t>Value at Risk Analysis — Master 1 Finance | IAE Metz — 202</a:t>
            </a:r>
            <a:r>
              <a:rPr lang="fr-FR" sz="900" b="0" i="0" dirty="0">
                <a:solidFill>
                  <a:srgbClr val="AABBCC"/>
                </a:solidFill>
                <a:latin typeface="Calibri"/>
              </a:rPr>
              <a:t>6</a:t>
            </a:r>
            <a:endParaRPr sz="900" b="0" i="0" dirty="0">
              <a:solidFill>
                <a:srgbClr val="AABBCC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548640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73152" cy="516636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488A"/>
                </a:solidFill>
                <a:latin typeface="Calibri"/>
              </a:rPr>
              <a:t>Financial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>
                <a:solidFill>
                  <a:srgbClr val="1A488A"/>
                </a:solidFill>
                <a:latin typeface="Calibri"/>
              </a:rPr>
              <a:t>CONTEXT</a:t>
            </a:r>
          </a:p>
          <a:p>
            <a:pPr algn="l">
              <a:spcBef>
                <a:spcPts val="300"/>
              </a:spcBef>
            </a:pPr>
            <a:r>
              <a:rPr sz="1200" b="0" dirty="0">
                <a:solidFill>
                  <a:srgbClr val="0A0A0A"/>
                </a:solidFill>
                <a:latin typeface="Calibri"/>
              </a:rPr>
              <a:t>Since the 2008 financial crisis, </a:t>
            </a:r>
            <a:r>
              <a:rPr sz="1200" b="0" dirty="0" err="1">
                <a:solidFill>
                  <a:srgbClr val="0A0A0A"/>
                </a:solidFill>
                <a:latin typeface="Calibri"/>
              </a:rPr>
              <a:t>VaR</a:t>
            </a:r>
            <a:r>
              <a:rPr sz="1200" b="0" dirty="0">
                <a:solidFill>
                  <a:srgbClr val="0A0A0A"/>
                </a:solidFill>
                <a:latin typeface="Calibri"/>
              </a:rPr>
              <a:t> has become the standard regulatory risk metric under Basel III/IV. Every major bank and asset manager is required to report daily </a:t>
            </a:r>
            <a:r>
              <a:rPr sz="1200" b="0" dirty="0" err="1">
                <a:solidFill>
                  <a:srgbClr val="0A0A0A"/>
                </a:solidFill>
                <a:latin typeface="Calibri"/>
              </a:rPr>
              <a:t>VaR</a:t>
            </a:r>
            <a:r>
              <a:rPr sz="1200" b="0" dirty="0">
                <a:solidFill>
                  <a:srgbClr val="0A0A0A"/>
                </a:solidFill>
                <a:latin typeface="Calibri"/>
              </a:rPr>
              <a:t> figures.</a:t>
            </a:r>
          </a:p>
          <a:p>
            <a:pPr algn="l">
              <a:spcBef>
                <a:spcPts val="300"/>
              </a:spcBef>
            </a:pPr>
            <a:endParaRPr sz="1200" b="0" dirty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300"/>
              </a:spcBef>
            </a:pPr>
            <a:r>
              <a:rPr sz="1200" b="1" dirty="0">
                <a:solidFill>
                  <a:srgbClr val="1A488A"/>
                </a:solidFill>
                <a:latin typeface="Calibri"/>
              </a:rPr>
              <a:t>PORTFOLIO RATIONALE</a:t>
            </a:r>
          </a:p>
          <a:p>
            <a:pPr algn="l">
              <a:spcBef>
                <a:spcPts val="300"/>
              </a:spcBef>
            </a:pPr>
            <a:r>
              <a:rPr sz="1200" b="0" dirty="0">
                <a:solidFill>
                  <a:srgbClr val="0A0A0A"/>
                </a:solidFill>
                <a:latin typeface="Calibri"/>
              </a:rPr>
              <a:t>We build a 5-stock US equity portfolio across uncorrelated sectors: luxury goods, healthcare, defense, renewable energy, and technology. The goal is to observe how sectoral diversification affects risk.</a:t>
            </a:r>
          </a:p>
          <a:p>
            <a:pPr algn="l">
              <a:spcBef>
                <a:spcPts val="300"/>
              </a:spcBef>
            </a:pPr>
            <a:endParaRPr sz="1200" b="0" dirty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300"/>
              </a:spcBef>
            </a:pPr>
            <a:r>
              <a:rPr sz="1200" b="1" dirty="0">
                <a:solidFill>
                  <a:srgbClr val="1A488A"/>
                </a:solidFill>
                <a:latin typeface="Calibri"/>
              </a:rPr>
              <a:t>PERIOD CHOICE</a:t>
            </a:r>
          </a:p>
          <a:p>
            <a:pPr algn="l">
              <a:spcBef>
                <a:spcPts val="300"/>
              </a:spcBef>
            </a:pPr>
            <a:r>
              <a:rPr sz="1200" b="0" dirty="0">
                <a:solidFill>
                  <a:srgbClr val="0A0A0A"/>
                </a:solidFill>
                <a:latin typeface="Calibri"/>
              </a:rPr>
              <a:t>January 2020 – December 2024 deliberately covers extreme market events: the COVID crash (March 2020), the post-COVID rally, and the 2022 rate-hike bear market. This stress-tests our </a:t>
            </a:r>
            <a:r>
              <a:rPr sz="1200" b="0" dirty="0" err="1">
                <a:solidFill>
                  <a:srgbClr val="0A0A0A"/>
                </a:solidFill>
                <a:latin typeface="Calibri"/>
              </a:rPr>
              <a:t>VaR</a:t>
            </a:r>
            <a:r>
              <a:rPr sz="1200" b="0" dirty="0">
                <a:solidFill>
                  <a:srgbClr val="0A0A0A"/>
                </a:solidFill>
                <a:latin typeface="Calibri"/>
              </a:rPr>
              <a:t> models against real shocks.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143000"/>
            <a:ext cx="5760720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26480" y="1143000"/>
            <a:ext cx="73152" cy="516636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12344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488A"/>
                </a:solidFill>
                <a:latin typeface="Calibri"/>
              </a:rPr>
              <a:t>Research Objectives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783080"/>
            <a:ext cx="502920" cy="50292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3368" y="18288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032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1783080"/>
            <a:ext cx="4709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Construct a diversified US equity portfolio across 5 distinct sectors using 5 years of daily market data.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880360"/>
            <a:ext cx="502920" cy="50292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73368" y="2926079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032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880360"/>
            <a:ext cx="4709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Compute 1-day VaR at the 95% confidence level using three independent methods.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3977639"/>
            <a:ext cx="502920" cy="50292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3368" y="4023359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032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977639"/>
            <a:ext cx="4709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Compare and critically interpret the three VaR estimates — do they converge or diverge, and why?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5074920"/>
            <a:ext cx="502920" cy="50292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73368" y="51206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8A032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5074920"/>
            <a:ext cx="4709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Assess what the VaR figures mean in dollar terms for a $10,000 invested portfolio.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Portfolio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5 stocks · 5 sectors · Equal weights · $10,000 initial capital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AABBCC"/>
                </a:solidFill>
                <a:latin typeface="Calibri"/>
              </a:rPr>
              <a:t>Value at Risk Analysis — Master 1 Finance | IAE Metz — 202</a:t>
            </a:r>
            <a:r>
              <a:rPr lang="fr-FR" sz="900" b="0" i="0" dirty="0">
                <a:solidFill>
                  <a:srgbClr val="AABBCC"/>
                </a:solidFill>
                <a:latin typeface="Calibri"/>
              </a:rPr>
              <a:t>6</a:t>
            </a:r>
            <a:endParaRPr sz="900" b="0" i="0" dirty="0">
              <a:solidFill>
                <a:srgbClr val="AABBCC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85039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170432"/>
            <a:ext cx="822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Ticker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170432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17043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170432"/>
            <a:ext cx="1463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Geography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1170432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Weight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527048"/>
            <a:ext cx="85039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0040" y="1600200"/>
            <a:ext cx="822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488A"/>
                </a:solidFill>
                <a:latin typeface="Calibri"/>
              </a:rPr>
              <a:t>LVMUY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1600200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LVMH Moët Hennessy Louis Vuitton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1600200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Luxury Goods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600200"/>
            <a:ext cx="1463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Europe / Global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1600200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20%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002536"/>
            <a:ext cx="8503920" cy="47548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20040" y="2075688"/>
            <a:ext cx="822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488A"/>
                </a:solidFill>
                <a:latin typeface="Calibri"/>
              </a:rPr>
              <a:t>JNJ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2075688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Johnson &amp; Johnson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2075688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Healthcare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075688"/>
            <a:ext cx="1463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USA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2075688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478024"/>
            <a:ext cx="85039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0040" y="2551176"/>
            <a:ext cx="822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488A"/>
                </a:solidFill>
                <a:latin typeface="Calibri"/>
              </a:rPr>
              <a:t>LMT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2551176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Lockheed Martin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2551176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Defense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2551176"/>
            <a:ext cx="1463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USA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2551176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20%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2953512"/>
            <a:ext cx="8503920" cy="475488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20040" y="3026664"/>
            <a:ext cx="822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488A"/>
                </a:solidFill>
                <a:latin typeface="Calibri"/>
              </a:rPr>
              <a:t>NEE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302666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NextEra Energy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3026664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Renewable Energy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3026664"/>
            <a:ext cx="1463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USA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3026664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20%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3429000"/>
            <a:ext cx="85039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0040" y="3502152"/>
            <a:ext cx="822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488A"/>
                </a:solidFill>
                <a:latin typeface="Calibri"/>
              </a:rPr>
              <a:t>AAPL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34440" y="3502152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Calibri"/>
              </a:rPr>
              <a:t>Apple Inc.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34840" y="3502152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Technology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3502152"/>
            <a:ext cx="1463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USA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1000" y="3502152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A0A0A"/>
                </a:solidFill>
                <a:latin typeface="Calibri"/>
              </a:rPr>
              <a:t>20%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3931920"/>
            <a:ext cx="1161288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274320" y="3931920"/>
            <a:ext cx="73152" cy="242316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02920" y="40050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488A"/>
                </a:solidFill>
                <a:latin typeface="Calibri"/>
              </a:rPr>
              <a:t>Construction Rationale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4370832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0A0A0A"/>
                </a:solidFill>
                <a:latin typeface="Calibri"/>
              </a:rPr>
              <a:t>DIVERSIFICATION LOGIC  — The five sectors have low return correlations. Defence (LMT) and healthcare (JNJ) tend to hold value during equity sell-offs, while technology (AAPL) and luxury (LVMUY) drive growth in risk-on environments. Renewables (NEE) provide exposure to long-term structural growth with low sensitivity to business cycles.</a:t>
            </a:r>
          </a:p>
          <a:p>
            <a:pPr algn="l">
              <a:spcBef>
                <a:spcPts val="600"/>
              </a:spcBef>
            </a:pPr>
            <a:r>
              <a:rPr sz="1150">
                <a:solidFill>
                  <a:srgbClr val="0A0A0A"/>
                </a:solidFill>
                <a:latin typeface="Calibri"/>
              </a:rPr>
              <a:t>EQUAL WEIGHTING  — Each stock receives exactly 20% of capital. This avoids concentration bias and makes the portfolio transparent and reproducible. In academic finance, equal weighting is a well-established benchmark that often outperforms optimised portfolios out-of-sample.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Individual Stock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Normalized to base 100 — January 2020 to December 2024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AABBCC"/>
                </a:solidFill>
                <a:latin typeface="Calibri"/>
              </a:rPr>
              <a:t>Value at Risk Analysis — Master 1 Finance | IAE Metz — 202</a:t>
            </a:r>
            <a:r>
              <a:rPr lang="fr-FR" sz="900" b="0" i="0" dirty="0">
                <a:solidFill>
                  <a:srgbClr val="AABBCC"/>
                </a:solidFill>
                <a:latin typeface="Calibri"/>
              </a:rPr>
              <a:t>6</a:t>
            </a:r>
            <a:endParaRPr sz="900" b="0" i="0" dirty="0">
              <a:solidFill>
                <a:srgbClr val="AABBCC"/>
              </a:solidFill>
              <a:latin typeface="Calibri"/>
            </a:endParaRPr>
          </a:p>
        </p:txBody>
      </p:sp>
      <p:pic>
        <p:nvPicPr>
          <p:cNvPr id="7" name="Picture 6" descr="chart1_stock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51560"/>
            <a:ext cx="8046720" cy="46634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412480" y="1051560"/>
            <a:ext cx="3593592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412480" y="1051560"/>
            <a:ext cx="64008" cy="466344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0" y="114300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88A"/>
                </a:solidFill>
                <a:latin typeface="Calibri"/>
              </a:rPr>
              <a:t>Key Observations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600200"/>
            <a:ext cx="3337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A488A"/>
                </a:solidFill>
                <a:latin typeface="Calibri"/>
              </a:rPr>
              <a:t>AAPL — Dominant performer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Apple delivered the strongest cumulative gain, driven by product cycle expansion and multiple re-rating.</a:t>
            </a:r>
          </a:p>
          <a:p>
            <a:pPr algn="l">
              <a:spcBef>
                <a:spcPts val="200"/>
              </a:spcBef>
            </a:pPr>
            <a:endParaRPr sz="1050" b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LMT — Defensive outperformer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Lockheed Martin proved resilient through the 2022 bear market as defence budgets surged post-Ukraine.</a:t>
            </a:r>
          </a:p>
          <a:p>
            <a:pPr algn="l">
              <a:spcBef>
                <a:spcPts val="200"/>
              </a:spcBef>
            </a:pPr>
            <a:endParaRPr sz="1050" b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NEE — High beta to rates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NextEra lost ground significantly in 2022–23 as rising rates increased its cost of capital (utility sector sensitivity).</a:t>
            </a:r>
          </a:p>
          <a:p>
            <a:pPr algn="l">
              <a:spcBef>
                <a:spcPts val="200"/>
              </a:spcBef>
            </a:pPr>
            <a:endParaRPr sz="1050" b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LVMUY — Volatile recovery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LVMH recovered from COVID at pace but then corrected in 2024 as China consumption disappointed.</a:t>
            </a:r>
          </a:p>
          <a:p>
            <a:pPr algn="l">
              <a:spcBef>
                <a:spcPts val="200"/>
              </a:spcBef>
            </a:pPr>
            <a:endParaRPr sz="1050" b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JNJ — Stable anchor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Johnson &amp; Johnson showed the lowest volatility, consistent with its defensive healthcare profile.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Portfolio Value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$10,000 invested equally across 5 stocks · Final value: $18,000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AABBCC"/>
                </a:solidFill>
                <a:latin typeface="Calibri"/>
              </a:rPr>
              <a:t>Value at Risk Analysis — Master 1 Finance | IAE Metz — 202</a:t>
            </a:r>
            <a:r>
              <a:rPr lang="fr-FR" sz="900" b="0" i="0" dirty="0">
                <a:solidFill>
                  <a:srgbClr val="AABBCC"/>
                </a:solidFill>
                <a:latin typeface="Calibri"/>
              </a:rPr>
              <a:t>6</a:t>
            </a:r>
            <a:endParaRPr sz="900" b="0" i="0" dirty="0">
              <a:solidFill>
                <a:srgbClr val="AABBCC"/>
              </a:solidFill>
              <a:latin typeface="Calibri"/>
            </a:endParaRPr>
          </a:p>
        </p:txBody>
      </p:sp>
      <p:pic>
        <p:nvPicPr>
          <p:cNvPr id="7" name="Picture 6" descr="chart2_portfolio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51560"/>
            <a:ext cx="8046720" cy="3931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82880" y="5093208"/>
            <a:ext cx="1298448" cy="1078992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" y="516636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96F3"/>
                </a:solidFill>
                <a:latin typeface="Calibri"/>
              </a:rPr>
              <a:t>Initial Capital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5504688"/>
            <a:ext cx="11155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 Light"/>
              </a:rPr>
              <a:t>$10,000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45336" y="5093208"/>
            <a:ext cx="1298448" cy="1078992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36776" y="516636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96F3"/>
                </a:solidFill>
                <a:latin typeface="Calibri"/>
              </a:rPr>
              <a:t>Final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36776" y="5504688"/>
            <a:ext cx="11155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 Light"/>
              </a:rPr>
              <a:t>$18,000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07792" y="5093208"/>
            <a:ext cx="1298448" cy="1078992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99232" y="516636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96F3"/>
                </a:solidFill>
                <a:latin typeface="Calibri"/>
              </a:rPr>
              <a:t>Total Return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9232" y="5504688"/>
            <a:ext cx="11155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 Light"/>
              </a:rPr>
              <a:t>+80.0%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5093208"/>
            <a:ext cx="1298448" cy="1078992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61688" y="516636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96F3"/>
                </a:solidFill>
                <a:latin typeface="Calibri"/>
              </a:rPr>
              <a:t>Ann. Return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1688" y="5504688"/>
            <a:ext cx="11155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 Light"/>
              </a:rPr>
              <a:t>+14.8%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2704" y="5093208"/>
            <a:ext cx="1298448" cy="107899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144" y="516636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96F3"/>
                </a:solidFill>
                <a:latin typeface="Calibri"/>
              </a:rPr>
              <a:t>Worst 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24144" y="5504688"/>
            <a:ext cx="11155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Calibri Light"/>
              </a:rPr>
              <a:t>-10.47%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95160" y="5093208"/>
            <a:ext cx="1298448" cy="1078992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086600" y="5166360"/>
            <a:ext cx="1115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196F3"/>
                </a:solidFill>
                <a:latin typeface="Calibri"/>
              </a:rPr>
              <a:t>Ann. Volatility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5504688"/>
            <a:ext cx="111556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 Light"/>
              </a:rPr>
              <a:t>20.1%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1051560"/>
            <a:ext cx="3593592" cy="3931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412480" y="1051560"/>
            <a:ext cx="64008" cy="393192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595360" y="114300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88A"/>
                </a:solidFill>
                <a:latin typeface="Calibri"/>
              </a:rPr>
              <a:t>Portfolio Narrative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1572768"/>
            <a:ext cx="333756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488A"/>
                </a:solidFill>
                <a:latin typeface="Calibri"/>
              </a:rPr>
              <a:t>PHASE 1 — COVID Crash (Feb–Mar 2020)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0A0A0A"/>
                </a:solidFill>
                <a:latin typeface="Calibri"/>
              </a:rPr>
              <a:t>Portfolio dropped sharply to $7,421 (on 2020-03-23). The equal-weight structure meant all sectors were hit, but JNJ and LMT cushioned the fall.</a:t>
            </a:r>
          </a:p>
          <a:p>
            <a:pPr algn="l">
              <a:spcBef>
                <a:spcPts val="200"/>
              </a:spcBef>
            </a:pPr>
            <a:endParaRPr sz="1000" b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000" b="1">
                <a:solidFill>
                  <a:srgbClr val="1A488A"/>
                </a:solidFill>
                <a:latin typeface="Calibri"/>
              </a:rPr>
              <a:t>PHASE 2 — Bull Market (2020–2021)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0A0A0A"/>
                </a:solidFill>
                <a:latin typeface="Calibri"/>
              </a:rPr>
              <a:t>Strong recovery driven by AAPL and LVMUY. The portfolio exceeded the initial $10,000 by mid-2020 and continued to grow through 2021.</a:t>
            </a:r>
          </a:p>
          <a:p>
            <a:pPr algn="l">
              <a:spcBef>
                <a:spcPts val="200"/>
              </a:spcBef>
            </a:pPr>
            <a:endParaRPr sz="1000" b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000" b="1">
                <a:solidFill>
                  <a:srgbClr val="1A488A"/>
                </a:solidFill>
                <a:latin typeface="Calibri"/>
              </a:rPr>
              <a:t>PHASE 3 — Rate Hike Bear (2022)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0A0A0A"/>
                </a:solidFill>
                <a:latin typeface="Calibri"/>
              </a:rPr>
              <a:t>The Fed's aggressive tightening compressed growth valuations. AAPL and NEE dragged the portfolio down. LMT bucked the trend.</a:t>
            </a:r>
          </a:p>
          <a:p>
            <a:pPr algn="l">
              <a:spcBef>
                <a:spcPts val="200"/>
              </a:spcBef>
            </a:pPr>
            <a:endParaRPr sz="1000" b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000" b="1">
                <a:solidFill>
                  <a:srgbClr val="1A488A"/>
                </a:solidFill>
                <a:latin typeface="Calibri"/>
              </a:rPr>
              <a:t>PHASE 4 — Recovery (2023–2024)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0A0A0A"/>
                </a:solidFill>
                <a:latin typeface="Calibri"/>
              </a:rPr>
              <a:t>AI-driven rally in tech and stabilising inflation pushed the portfolio to its final value of $18,000, a gain of 80.0% over the full period.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Value at Risk —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Three independent estimation methods · 95% confidence · 1-day horizon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AABBCC"/>
                </a:solidFill>
                <a:latin typeface="Calibri"/>
              </a:rPr>
              <a:t>Value at Risk Analysis — Master 1 Finance | IAE Metz — 202</a:t>
            </a:r>
            <a:r>
              <a:rPr lang="fr-FR" sz="900" b="0" i="0" dirty="0">
                <a:solidFill>
                  <a:srgbClr val="AABBCC"/>
                </a:solidFill>
                <a:latin typeface="Calibri"/>
              </a:rPr>
              <a:t>6</a:t>
            </a:r>
            <a:endParaRPr sz="900" b="0" i="0" dirty="0">
              <a:solidFill>
                <a:srgbClr val="AABBCC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11612880" cy="105156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113385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 Light"/>
              </a:rPr>
              <a:t>Definition — VaR (95%, 1-day) answers: "What is the maximum loss this portfolio will suffer on a typical bad day, 19 times out of 20?"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331720"/>
            <a:ext cx="3749039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4320" y="2331720"/>
            <a:ext cx="3749039" cy="73152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84048" y="2423160"/>
            <a:ext cx="457200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3192" y="2432304"/>
            <a:ext cx="4297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032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441448"/>
            <a:ext cx="29717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88A"/>
                </a:solidFill>
                <a:latin typeface="Calibri"/>
              </a:rPr>
              <a:t>Historical VaR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2852928"/>
            <a:ext cx="3520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7F8C8D"/>
                </a:solidFill>
                <a:latin typeface="Calibri"/>
              </a:rPr>
              <a:t>Uses the actual distribution of past returns.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3218688"/>
            <a:ext cx="3520439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A0A0A"/>
                </a:solidFill>
                <a:latin typeface="Calibri"/>
              </a:rPr>
              <a:t>· Take all 1256 daily returns (Jan 2020 – Dec 2024)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· Sort returns from worst to best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· Read off the 5th percentile directly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No distributional assumption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Captures real market events (COVID, 2022 crash)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Limitation: future may differ from past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806440"/>
            <a:ext cx="3566159" cy="2926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5815584"/>
            <a:ext cx="35661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032"/>
                </a:solidFill>
                <a:latin typeface="Calibri"/>
              </a:rPr>
              <a:t>Result: 1.7456%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2331720"/>
            <a:ext cx="3749039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160520" y="2331720"/>
            <a:ext cx="3749039" cy="73152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70248" y="2423160"/>
            <a:ext cx="457200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79392" y="2432304"/>
            <a:ext cx="4297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032"/>
                </a:solidFill>
                <a:latin typeface="Calibri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18888" y="2441448"/>
            <a:ext cx="29717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88A"/>
                </a:solidFill>
                <a:latin typeface="Calibri"/>
              </a:rPr>
              <a:t>Parametric VaR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852928"/>
            <a:ext cx="3520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7F8C8D"/>
                </a:solidFill>
                <a:latin typeface="Calibri"/>
              </a:rPr>
              <a:t>Assumes portfolio returns follow a Normal distribution.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218688"/>
            <a:ext cx="3520439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A0A0A"/>
                </a:solidFill>
                <a:latin typeface="Calibri"/>
              </a:rPr>
              <a:t>· Mean daily return: 0.0548%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· Daily std deviation: 1.2672%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· Z-score at 5% tail: −1.645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Formula: VaR = −(μ + z·σ)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Fast and analytically tractable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Risk: underestimates fat tails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59" y="5806440"/>
            <a:ext cx="3566159" cy="2926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251959" y="5815584"/>
            <a:ext cx="35661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032"/>
                </a:solidFill>
                <a:latin typeface="Calibri"/>
              </a:rPr>
              <a:t>Result: 2.0295%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20" y="2331720"/>
            <a:ext cx="3749039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046720" y="2331720"/>
            <a:ext cx="3749039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56448" y="2423160"/>
            <a:ext cx="457200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65592" y="2432304"/>
            <a:ext cx="4297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A032"/>
                </a:solidFill>
                <a:latin typeface="Calibr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05088" y="2441448"/>
            <a:ext cx="29717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88A"/>
                </a:solidFill>
                <a:latin typeface="Calibri"/>
              </a:rPr>
              <a:t>Monte Carlo VaR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2852928"/>
            <a:ext cx="3520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7F8C8D"/>
                </a:solidFill>
                <a:latin typeface="Calibri"/>
              </a:rPr>
              <a:t>Simulates 10,000 possible future return scenarios.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80" y="3218688"/>
            <a:ext cx="3520439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A0A0A"/>
                </a:solidFill>
                <a:latin typeface="Calibri"/>
              </a:rPr>
              <a:t>· Draw 10,000 random returns from N(μ, σ²)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· Same parameters as parametric method</a:t>
            </a:r>
          </a:p>
          <a:p>
            <a:pPr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· Take the 5th percentile of simulated outcomes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Probabilistic view of the loss distribution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Very close to parametric (same inputs)</a:t>
            </a:r>
          </a:p>
          <a:p>
            <a:pPr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→ More flexible for complex portfolios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60" y="5806440"/>
            <a:ext cx="3566159" cy="29260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138160" y="5815584"/>
            <a:ext cx="35661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032"/>
                </a:solidFill>
                <a:latin typeface="Calibri"/>
              </a:rPr>
              <a:t>Result: 2.0422%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Daily Return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Histogram of actual returns vs. theoretical normal curve · Historical VaR threshold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AABBCC"/>
                </a:solidFill>
                <a:latin typeface="Calibri"/>
              </a:rPr>
              <a:t>Value at Risk Analysis — Master 1 Finance | IAE Metz — 202</a:t>
            </a:r>
            <a:r>
              <a:rPr lang="fr-FR" sz="900" b="0" i="0" dirty="0">
                <a:solidFill>
                  <a:srgbClr val="AABBCC"/>
                </a:solidFill>
                <a:latin typeface="Calibri"/>
              </a:rPr>
              <a:t>6</a:t>
            </a:r>
            <a:endParaRPr sz="900" b="0" i="0" dirty="0">
              <a:solidFill>
                <a:srgbClr val="AABBCC"/>
              </a:solidFill>
              <a:latin typeface="Calibri"/>
            </a:endParaRPr>
          </a:p>
        </p:txBody>
      </p:sp>
      <p:pic>
        <p:nvPicPr>
          <p:cNvPr id="7" name="Picture 6" descr="chart3_return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51560"/>
            <a:ext cx="8046720" cy="46634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412480" y="1051560"/>
            <a:ext cx="3593592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412480" y="1051560"/>
            <a:ext cx="64008" cy="46634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0" y="114300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88A"/>
                </a:solidFill>
                <a:latin typeface="Calibri"/>
              </a:rPr>
              <a:t>Reading the Chart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572768"/>
            <a:ext cx="3337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A488A"/>
                </a:solidFill>
                <a:latin typeface="Calibri"/>
              </a:rPr>
              <a:t>Central mass — low risk days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The bulk of daily returns cluster tightly around 0%, confirming that most trading days are unremarkable for a diversified portfolio.</a:t>
            </a:r>
          </a:p>
          <a:p>
            <a:pPr algn="l">
              <a:spcBef>
                <a:spcPts val="200"/>
              </a:spcBef>
            </a:pPr>
            <a:endParaRPr sz="1050" b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050" b="1">
                <a:solidFill>
                  <a:srgbClr val="C0392B"/>
                </a:solidFill>
                <a:latin typeface="Calibri"/>
              </a:rPr>
              <a:t>Left tail — the loss zone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The red vertical line marks the Historical VaR threshold at −1.75%. On 5% of trading days (≈ 63 days over 5 years), losses exceeded this level.</a:t>
            </a:r>
          </a:p>
          <a:p>
            <a:pPr algn="l">
              <a:spcBef>
                <a:spcPts val="200"/>
              </a:spcBef>
            </a:pPr>
            <a:endParaRPr sz="1050" b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Normal curve overlay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0A0A0A"/>
                </a:solidFill>
                <a:latin typeface="Calibri"/>
              </a:rPr>
              <a:t>The orange curve is the theoretical normal distribution fitted to μ = 0.055% and σ = 1.267%. The actual histogram is slightly leptokurtic (more peaked, fatter tails) — typical of equity returns.</a:t>
            </a:r>
          </a:p>
          <a:p>
            <a:pPr algn="l">
              <a:spcBef>
                <a:spcPts val="200"/>
              </a:spcBef>
            </a:pPr>
            <a:endParaRPr sz="1050" b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050" b="1">
                <a:solidFill>
                  <a:srgbClr val="1A488A"/>
                </a:solidFill>
                <a:latin typeface="Calibri"/>
              </a:rPr>
              <a:t>Key statistic</a:t>
            </a:r>
          </a:p>
          <a:p>
            <a:pPr algn="l">
              <a:spcBef>
                <a:spcPts val="200"/>
              </a:spcBef>
            </a:pPr>
            <a:r>
              <a:rPr sz="1050" b="1">
                <a:solidFill>
                  <a:srgbClr val="C0392B"/>
                </a:solidFill>
                <a:latin typeface="Calibri"/>
              </a:rPr>
              <a:t>Worst single day: -10.47%  |  Best: +8.97%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VaR Results — 95% Confidence, 1-Day Horizon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Comparing three methods on the same 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AABBCC"/>
                </a:solidFill>
                <a:latin typeface="Calibri"/>
              </a:rPr>
              <a:t>Value at Risk Analysis — Master 1 Finance | IAE Metz — 202</a:t>
            </a:r>
            <a:r>
              <a:rPr lang="fr-FR" sz="900" b="0" i="0" dirty="0">
                <a:solidFill>
                  <a:srgbClr val="AABBCC"/>
                </a:solidFill>
                <a:latin typeface="Calibri"/>
              </a:rPr>
              <a:t>6</a:t>
            </a:r>
            <a:endParaRPr sz="900" b="0" i="0" dirty="0">
              <a:solidFill>
                <a:srgbClr val="AABBCC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3749039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3749039" cy="10972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79" y="1298448"/>
            <a:ext cx="3520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488A"/>
                </a:solidFill>
                <a:latin typeface="Calibri"/>
              </a:rPr>
              <a:t>Historical VaR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1709928"/>
            <a:ext cx="35204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Most conservative estimate.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79" y="2048256"/>
            <a:ext cx="3474720" cy="8046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79" y="2066543"/>
            <a:ext cx="3474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E53935"/>
                </a:solidFill>
                <a:latin typeface="Calibri Light"/>
              </a:rPr>
              <a:t>1.7456%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5420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−$314 on current portfolio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2926080"/>
            <a:ext cx="352043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0A0A0A"/>
                </a:solidFill>
                <a:latin typeface="Calibri"/>
              </a:rPr>
              <a:t>Reads directly from the actual distribution of past returns. On the 5th worst percentile of the 1256 observed trading days, the portfolio lost at least 1.75% — or about $314 on the current portfolio value of $18,000.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389120"/>
            <a:ext cx="3566159" cy="18288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4389120"/>
            <a:ext cx="54864" cy="18288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4434840"/>
            <a:ext cx="338327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1A488A"/>
                </a:solidFill>
                <a:latin typeface="Calibri"/>
              </a:rPr>
              <a:t>Lower than parametric → the actual return distribution has a less extreme left tail than a normal curve predicts. Diversification worked.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143000"/>
            <a:ext cx="3749039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160520" y="1143000"/>
            <a:ext cx="3749039" cy="109728"/>
          </a:xfrm>
          <a:prstGeom prst="rect">
            <a:avLst/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97680" y="1298448"/>
            <a:ext cx="3520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488A"/>
                </a:solidFill>
                <a:latin typeface="Calibri"/>
              </a:rPr>
              <a:t>Parametric VaR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1709928"/>
            <a:ext cx="35204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Assumes Gaussian returns.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2048256"/>
            <a:ext cx="3474720" cy="8046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297680" y="2066543"/>
            <a:ext cx="3474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B8C00"/>
                </a:solidFill>
                <a:latin typeface="Calibri Light"/>
              </a:rPr>
              <a:t>2.0295%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5420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−$365 on current portfolio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2926080"/>
            <a:ext cx="352043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0A0A0A"/>
                </a:solidFill>
                <a:latin typeface="Calibri"/>
              </a:rPr>
              <a:t>Derived analytically: VaR = −(μ + z·σ) with μ=0.0548%, σ=1.2672%, z=−1.645. Gives 2.03%, or about $365 in dollar terms.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59" y="4389120"/>
            <a:ext cx="3566159" cy="18288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51959" y="4389120"/>
            <a:ext cx="54864" cy="1828800"/>
          </a:xfrm>
          <a:prstGeom prst="rect">
            <a:avLst/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89120" y="4434840"/>
            <a:ext cx="338327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1A488A"/>
                </a:solidFill>
                <a:latin typeface="Calibri"/>
              </a:rPr>
              <a:t>Higher than Historical → the normal distribution overestimates tail risk here. Parametric VaR is the more conservative parametric estimate.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0" y="1143000"/>
            <a:ext cx="3749039" cy="5166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046720" y="1143000"/>
            <a:ext cx="3749039" cy="109728"/>
          </a:xfrm>
          <a:prstGeom prst="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83880" y="1298448"/>
            <a:ext cx="3520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488A"/>
                </a:solidFill>
                <a:latin typeface="Calibri"/>
              </a:rPr>
              <a:t>Monte Carlo VaR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1709928"/>
            <a:ext cx="35204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F8C8D"/>
                </a:solidFill>
                <a:latin typeface="Calibri"/>
              </a:rPr>
              <a:t>10,000 simulated scenarios.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83880" y="2048256"/>
            <a:ext cx="3474720" cy="8046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183880" y="2066543"/>
            <a:ext cx="347472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8E24AA"/>
                </a:solidFill>
                <a:latin typeface="Calibri Light"/>
              </a:rPr>
              <a:t>2.0422%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80" y="25420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−$368 on current portfolio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3880" y="2926080"/>
            <a:ext cx="352043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0A0A0A"/>
                </a:solidFill>
                <a:latin typeface="Calibri"/>
              </a:rPr>
              <a:t>Simulates 10,000 random draws from N(0.0548%, 1.2672%²). The 5th percentile of simulated outcomes gives 2.04%, or $368.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38160" y="4389120"/>
            <a:ext cx="3566159" cy="18288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138160" y="4389120"/>
            <a:ext cx="54864" cy="1828800"/>
          </a:xfrm>
          <a:prstGeom prst="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75320" y="4434840"/>
            <a:ext cx="3383279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1A488A"/>
                </a:solidFill>
                <a:latin typeface="Calibri"/>
              </a:rPr>
              <a:t>Near-identical to Parametric (2.0422% vs 2.0295%). Expected: both use the same μ and σ. The 0.01% difference is pure sampling noise from 10,000 draws.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VaR Methods — Side-by-Side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All three thresholds on the actual return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AABBCC"/>
                </a:solidFill>
                <a:latin typeface="Calibri"/>
              </a:rPr>
              <a:t>Value at Risk Analysis — Master 1 Finance | IAE Metz — 202</a:t>
            </a:r>
            <a:r>
              <a:rPr lang="fr-FR" sz="900" b="0" i="0" dirty="0">
                <a:solidFill>
                  <a:srgbClr val="AABBCC"/>
                </a:solidFill>
                <a:latin typeface="Calibri"/>
              </a:rPr>
              <a:t>6</a:t>
            </a:r>
            <a:endParaRPr sz="900" b="0" i="0" dirty="0">
              <a:solidFill>
                <a:srgbClr val="AABBCC"/>
              </a:solidFill>
              <a:latin typeface="Calibri"/>
            </a:endParaRPr>
          </a:p>
        </p:txBody>
      </p:sp>
      <p:pic>
        <p:nvPicPr>
          <p:cNvPr id="7" name="Picture 6" descr="chart4_va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51560"/>
            <a:ext cx="7772400" cy="4754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138160" y="1051560"/>
            <a:ext cx="3867912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138160" y="1051560"/>
            <a:ext cx="64008" cy="475488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21040" y="11155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88A"/>
                </a:solidFill>
                <a:latin typeface="Calibri"/>
              </a:rPr>
              <a:t>Comparison Summary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554480"/>
            <a:ext cx="3867912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56448" y="1572768"/>
            <a:ext cx="1005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20" y="1572768"/>
            <a:ext cx="107899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VaR (%)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1572768"/>
            <a:ext cx="8869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$ Loss (on $18K)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28832" y="1572768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Assumption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01952"/>
            <a:ext cx="3867912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8160" y="1901952"/>
            <a:ext cx="64008" cy="402336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56448" y="1956816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A0A0A"/>
                </a:solidFill>
                <a:latin typeface="Calibri"/>
              </a:rPr>
              <a:t>Historical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1956816"/>
            <a:ext cx="1078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E53935"/>
                </a:solidFill>
                <a:latin typeface="Calibri"/>
              </a:rPr>
              <a:t>1.7456%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1956816"/>
            <a:ext cx="8869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A0A0A"/>
                </a:solidFill>
                <a:latin typeface="Calibri"/>
              </a:rPr>
              <a:t>−$314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8832" y="1956816"/>
            <a:ext cx="7498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A0A0A"/>
                </a:solidFill>
                <a:latin typeface="Calibri"/>
              </a:rPr>
              <a:t>None (empirical)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2304288"/>
            <a:ext cx="3867912" cy="402336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38160" y="2304288"/>
            <a:ext cx="64008" cy="402336"/>
          </a:xfrm>
          <a:prstGeom prst="rect">
            <a:avLst/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56448" y="235915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A0A0A"/>
                </a:solidFill>
                <a:latin typeface="Calibri"/>
              </a:rPr>
              <a:t>Parametric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2359152"/>
            <a:ext cx="1078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B8C00"/>
                </a:solidFill>
                <a:latin typeface="Calibri"/>
              </a:rPr>
              <a:t>2.0295%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2359152"/>
            <a:ext cx="8869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A0A0A"/>
                </a:solidFill>
                <a:latin typeface="Calibri"/>
              </a:rPr>
              <a:t>−$365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28832" y="2359152"/>
            <a:ext cx="7498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A0A0A"/>
                </a:solidFill>
                <a:latin typeface="Calibri"/>
              </a:rPr>
              <a:t>Normal dist.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706624"/>
            <a:ext cx="3867912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38160" y="2706624"/>
            <a:ext cx="64008" cy="402336"/>
          </a:xfrm>
          <a:prstGeom prst="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56448" y="27614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A0A0A"/>
                </a:solidFill>
                <a:latin typeface="Calibri"/>
              </a:rPr>
              <a:t>Monte Carlo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2761488"/>
            <a:ext cx="1078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8E24AA"/>
                </a:solidFill>
                <a:latin typeface="Calibri"/>
              </a:rPr>
              <a:t>2.0422%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2761488"/>
            <a:ext cx="8869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A0A0A"/>
                </a:solidFill>
                <a:latin typeface="Calibri"/>
              </a:rPr>
              <a:t>−$368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28832" y="2761488"/>
            <a:ext cx="7498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A0A0A"/>
                </a:solidFill>
                <a:latin typeface="Calibri"/>
              </a:rPr>
              <a:t>Normal dist.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60" y="3108960"/>
            <a:ext cx="3867912" cy="54864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02168" y="3218688"/>
            <a:ext cx="3703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488A"/>
                </a:solidFill>
                <a:latin typeface="Calibri"/>
              </a:rPr>
              <a:t>KEY FINDING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0A0A0A"/>
                </a:solidFill>
                <a:latin typeface="Calibri"/>
              </a:rPr>
              <a:t>Historical VaR (1.75%) is 0.28 percentage points lower than the Parametric estimate (2.03%). This gap reveals that the portfolio's actual return distribution is less extreme in its left tail than a pure normal distribution predicts.</a:t>
            </a:r>
          </a:p>
          <a:p>
            <a:pPr algn="l">
              <a:spcBef>
                <a:spcPts val="300"/>
              </a:spcBef>
            </a:pPr>
            <a:endParaRPr sz="1000" b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300"/>
              </a:spcBef>
            </a:pPr>
            <a:r>
              <a:rPr sz="1000" b="1">
                <a:solidFill>
                  <a:srgbClr val="1A488A"/>
                </a:solidFill>
                <a:latin typeface="Calibri"/>
              </a:rPr>
              <a:t>WHY DOES THIS MATTER?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0A0A0A"/>
                </a:solidFill>
                <a:latin typeface="Calibri"/>
              </a:rPr>
              <a:t>A risk manager using only the parametric model would systematically over-provision capital against daily losses. The historical method, anchored to real data, provides a more accurate picture of this specific portfolio's behaviour.</a:t>
            </a:r>
          </a:p>
          <a:p>
            <a:pPr algn="l">
              <a:spcBef>
                <a:spcPts val="300"/>
              </a:spcBef>
            </a:pPr>
            <a:endParaRPr sz="1000" b="0">
              <a:solidFill>
                <a:srgbClr val="0A0A0A"/>
              </a:solidFill>
              <a:latin typeface="Calibri"/>
            </a:endParaRPr>
          </a:p>
          <a:p>
            <a:pPr algn="l">
              <a:spcBef>
                <a:spcPts val="300"/>
              </a:spcBef>
            </a:pPr>
            <a:r>
              <a:rPr sz="1000" b="1">
                <a:solidFill>
                  <a:srgbClr val="1A488A"/>
                </a:solidFill>
                <a:latin typeface="Calibri"/>
              </a:rPr>
              <a:t>MONTE CARLO ≈ PARAMETRIC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0A0A0A"/>
                </a:solidFill>
                <a:latin typeface="Calibri"/>
              </a:rPr>
              <a:t>The difference of 0.0127% between MC and Parametric is negligible — a direct consequence of identical input parameters. Monte Carlo's value lies in more complex, multi-asset scenarios.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 Light"/>
              </a:rPr>
              <a:t>Key Findings &amp; Financial Interpretation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96F3"/>
                </a:solidFill>
                <a:latin typeface="Calibri"/>
              </a:rPr>
              <a:t>What do the VaR numbers mean in practice?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118872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>
                <a:solidFill>
                  <a:srgbClr val="AABBCC"/>
                </a:solidFill>
                <a:latin typeface="Calibri"/>
              </a:rPr>
              <a:t>Value at Risk Analysis — Master 1 Finance | IAE Metz — 202</a:t>
            </a:r>
            <a:r>
              <a:rPr lang="fr-FR" sz="900" b="0" i="0" dirty="0">
                <a:solidFill>
                  <a:srgbClr val="AABBCC"/>
                </a:solidFill>
                <a:latin typeface="Calibri"/>
              </a:rPr>
              <a:t>6</a:t>
            </a:r>
            <a:endParaRPr sz="900" b="0" i="0" dirty="0">
              <a:solidFill>
                <a:srgbClr val="AABBCC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3749039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3749039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79" y="12618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88A"/>
                </a:solidFill>
                <a:latin typeface="Calibri"/>
              </a:rPr>
              <a:t>Diversification Benefit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1719072"/>
            <a:ext cx="3474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0A0A0A"/>
                </a:solidFill>
                <a:latin typeface="Calibri"/>
              </a:rPr>
              <a:t>The portfolio's Historical VaR of 1.75% is below the Parametric estimate, confirming that cross-sector diversification reduces extreme tail losses beyond what a single-distribution model captures. Sectors moved counter-cyclically during 2020 and 2022.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143000"/>
            <a:ext cx="3749039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70248" y="1143000"/>
            <a:ext cx="3749039" cy="73152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07408" y="12618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A3C"/>
                </a:solidFill>
                <a:latin typeface="Calibri"/>
              </a:rPr>
              <a:t>Dollar Translation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1719072"/>
            <a:ext cx="3474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0A0A0A"/>
                </a:solidFill>
                <a:latin typeface="Calibri"/>
              </a:rPr>
              <a:t>On the worst 5% of trading days, the portfolio (valued at $18,000) is expected to lose at least $314 (Historical) to $365 (Parametric). This translates the abstract percentage into a concrete risk budget.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66176" y="1143000"/>
            <a:ext cx="3749039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66176" y="1143000"/>
            <a:ext cx="3749039" cy="73152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03336" y="12618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32"/>
                </a:solidFill>
                <a:latin typeface="Calibri"/>
              </a:rPr>
              <a:t>Method Convergence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3336" y="1719072"/>
            <a:ext cx="3474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0A0A0A"/>
                </a:solidFill>
                <a:latin typeface="Calibri"/>
              </a:rPr>
              <a:t>All three methods agree within a 0.30% band. This convergence strengthens confidence in the risk estimate — no single method is an outlier. The Parametric and Monte Carlo methods converge because they share the same mean and volatility inputs.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840480"/>
            <a:ext cx="11612880" cy="24231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74320" y="3840480"/>
            <a:ext cx="1161288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3931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Critical Limitations — What VaR Does NOT Tell 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07408"/>
            <a:ext cx="11430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>
                <a:solidFill>
                  <a:srgbClr val="DDEEFF"/>
                </a:solidFill>
                <a:latin typeface="Calibri"/>
              </a:rPr>
              <a:t>▸  VaR is NOT a worst-case loss. It is a threshold exceeded 5% of the time. On those 5% of days, losses can be far larger (this is measured by Expected Shortfall / CVaR).</a:t>
            </a:r>
          </a:p>
          <a:p>
            <a:pPr algn="l">
              <a:spcBef>
                <a:spcPts val="400"/>
              </a:spcBef>
            </a:pPr>
            <a:r>
              <a:rPr sz="1050">
                <a:solidFill>
                  <a:srgbClr val="DDEEFF"/>
                </a:solidFill>
                <a:latin typeface="Calibri"/>
              </a:rPr>
              <a:t>▸  VaR assumes the past is representative of the future. A structural break (new pandemic, sovereign crisis) can invalidate historical distributions entirely.</a:t>
            </a:r>
          </a:p>
          <a:p>
            <a:pPr algn="l">
              <a:spcBef>
                <a:spcPts val="400"/>
              </a:spcBef>
            </a:pPr>
            <a:r>
              <a:rPr sz="1050">
                <a:solidFill>
                  <a:srgbClr val="DDEEFF"/>
                </a:solidFill>
                <a:latin typeface="Calibri"/>
              </a:rPr>
              <a:t>▸  The 1-day horizon ignores liquidity risk. Unwinding a $18K portfolio in a crisis may take days, during which losses can compound.</a:t>
            </a:r>
          </a:p>
          <a:p>
            <a:pPr algn="l">
              <a:spcBef>
                <a:spcPts val="400"/>
              </a:spcBef>
            </a:pPr>
            <a:r>
              <a:rPr sz="1050">
                <a:solidFill>
                  <a:srgbClr val="DDEEFF"/>
                </a:solidFill>
                <a:latin typeface="Calibri"/>
              </a:rPr>
              <a:t>▸  Equal weighting is a simplification. Optimal portfolio construction (mean-variance, risk parity) could reduce VaR further.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B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961120" y="91440"/>
            <a:ext cx="3227832" cy="6675120"/>
          </a:xfrm>
          <a:prstGeom prst="rect">
            <a:avLst/>
          </a:prstGeom>
          <a:solidFill>
            <a:srgbClr val="1A48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5486400" cy="4572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54864" cy="105156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188720"/>
            <a:ext cx="8138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32"/>
                </a:solidFill>
                <a:latin typeface="Calibri"/>
              </a:rPr>
              <a:t>A well-diversified portfolio reduces VaR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72768"/>
            <a:ext cx="8138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CCDDEE"/>
                </a:solidFill>
                <a:latin typeface="Calibri"/>
              </a:rPr>
              <a:t>By combining 5 low-correlated sectors, the portfolio's actual 1-day 95% VaR (1.75%) came in below what a normal-distribution model would predict (2.03%). This is a direct quantification of the diversification benefit.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54864" cy="105156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8138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32"/>
                </a:solidFill>
                <a:latin typeface="Calibri"/>
              </a:rPr>
              <a:t>All three methods converge — increasing confidence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52928"/>
            <a:ext cx="8138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CCDDEE"/>
                </a:solidFill>
                <a:latin typeface="Calibri"/>
              </a:rPr>
              <a:t>Historical (1.75%), Parametric (2.03%), and Monte Carlo (2.04%) align within a 0.30% range. This convergence validates the robustness of the estimate and reduces model risk.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49039"/>
            <a:ext cx="54864" cy="105156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8138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32"/>
                </a:solidFill>
                <a:latin typeface="Calibri"/>
              </a:rPr>
              <a:t>Strong risk-adjusted performance over 5 years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33087"/>
            <a:ext cx="8138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CCDDEE"/>
                </a:solidFill>
                <a:latin typeface="Calibri"/>
              </a:rPr>
              <a:t>The portfolio grew from $10,000 to $18,000 (+80.0%) with an annualised return of 14.8% and annualised volatility of 20.1%. VaR remained manageable throughout, including during the COVID shock.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029199"/>
            <a:ext cx="54864" cy="1051560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5029199"/>
            <a:ext cx="8138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A032"/>
                </a:solidFill>
                <a:latin typeface="Calibri"/>
              </a:rPr>
              <a:t>VaR is a starting point, not the full risk picture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413247"/>
            <a:ext cx="8138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CCDDEE"/>
                </a:solidFill>
                <a:latin typeface="Calibri"/>
              </a:rPr>
              <a:t>Expected Shortfall (CVaR) should complement VaR to capture losses beyond the threshold. Dynamic rebalancing and correlation monitoring over time are essential for a live portfolio.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45720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A032"/>
                </a:solidFill>
                <a:latin typeface="Calibri"/>
              </a:rPr>
              <a:t>Final VaR Summary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841248"/>
            <a:ext cx="2926080" cy="36576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098280" y="960120"/>
            <a:ext cx="2926080" cy="1097280"/>
          </a:xfrm>
          <a:prstGeom prst="rect">
            <a:avLst/>
          </a:prstGeom>
          <a:solidFill>
            <a:srgbClr val="0A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098280" y="960120"/>
            <a:ext cx="2926080" cy="6400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89720" y="106984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  <a:latin typeface="Calibri"/>
              </a:rPr>
              <a:t>Historical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41732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53935"/>
                </a:solidFill>
                <a:latin typeface="Calibri Light"/>
              </a:rPr>
              <a:t>1.7456%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98280" y="2240280"/>
            <a:ext cx="2926080" cy="1097280"/>
          </a:xfrm>
          <a:prstGeom prst="rect">
            <a:avLst/>
          </a:prstGeom>
          <a:solidFill>
            <a:srgbClr val="0A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98280" y="2240280"/>
            <a:ext cx="2926080" cy="64008"/>
          </a:xfrm>
          <a:prstGeom prst="rect">
            <a:avLst/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89720" y="235000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  <a:latin typeface="Calibri"/>
              </a:rPr>
              <a:t>Parametric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269748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B8C00"/>
                </a:solidFill>
                <a:latin typeface="Calibri Light"/>
              </a:rPr>
              <a:t>2.0295%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98280" y="3520439"/>
            <a:ext cx="2926080" cy="1097280"/>
          </a:xfrm>
          <a:prstGeom prst="rect">
            <a:avLst/>
          </a:prstGeom>
          <a:solidFill>
            <a:srgbClr val="0A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098280" y="3520439"/>
            <a:ext cx="2926080" cy="64008"/>
          </a:xfrm>
          <a:prstGeom prst="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89720" y="363016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BBCC"/>
                </a:solidFill>
                <a:latin typeface="Calibri"/>
              </a:rPr>
              <a:t>Monte Carlo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3977639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8E24AA"/>
                </a:solidFill>
                <a:latin typeface="Calibri Light"/>
              </a:rPr>
              <a:t>2.0422%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98280" y="4800600"/>
            <a:ext cx="2926080" cy="36576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098280" y="4892040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Portfolio: $18,000
+80.0% over 5 years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55778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A032"/>
                </a:solidFill>
                <a:latin typeface="Calibri"/>
              </a:rPr>
              <a:t>95% confidence · 1-day horizon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918</TotalTime>
  <Words>2132</Words>
  <Application>Microsoft Macintosh PowerPoint</Application>
  <PresentationFormat>Personnalisé</PresentationFormat>
  <Paragraphs>244</Paragraphs>
  <Slides>11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6" baseType="lpstr">
      <vt:lpstr>Aptos</vt:lpstr>
      <vt:lpstr>Arial</vt:lpstr>
      <vt:lpstr>Calibri</vt:lpstr>
      <vt:lpstr>Calibri Light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Bochra Jabr</cp:lastModifiedBy>
  <cp:revision>3</cp:revision>
  <dcterms:created xsi:type="dcterms:W3CDTF">2013-01-27T09:14:16Z</dcterms:created>
  <dcterms:modified xsi:type="dcterms:W3CDTF">2026-04-10T07:33:26Z</dcterms:modified>
  <cp:category/>
</cp:coreProperties>
</file>